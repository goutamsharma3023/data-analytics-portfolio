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8" r:id="rId3"/>
    <p:sldId id="261" r:id="rId4"/>
    <p:sldId id="270" r:id="rId5"/>
    <p:sldId id="262" r:id="rId6"/>
    <p:sldId id="271" r:id="rId7"/>
    <p:sldId id="263" r:id="rId8"/>
    <p:sldId id="272" r:id="rId9"/>
    <p:sldId id="269" r:id="rId10"/>
    <p:sldId id="273" r:id="rId11"/>
    <p:sldId id="278" r:id="rId12"/>
    <p:sldId id="282" r:id="rId13"/>
    <p:sldId id="283" r:id="rId14"/>
    <p:sldId id="281" r:id="rId15"/>
    <p:sldId id="280" r:id="rId16"/>
    <p:sldId id="279" r:id="rId17"/>
    <p:sldId id="275" r:id="rId18"/>
    <p:sldId id="264" r:id="rId19"/>
    <p:sldId id="265" r:id="rId20"/>
    <p:sldId id="284" r:id="rId21"/>
    <p:sldId id="260" r:id="rId22"/>
    <p:sldId id="266" r:id="rId23"/>
    <p:sldId id="267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4660"/>
  </p:normalViewPr>
  <p:slideViewPr>
    <p:cSldViewPr snapToGrid="0">
      <p:cViewPr varScale="1">
        <p:scale>
          <a:sx n="90" d="100"/>
          <a:sy n="90" d="100"/>
        </p:scale>
        <p:origin x="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3" Type="http://schemas.openxmlformats.org/officeDocument/2006/relationships/oleObject" Target="file:///D:\Business_Analyst\Project_ONE\Project_Work\excel_Project\dunUse\DAshboard_HighCloud_EXCEL_G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
<Relationships xmlns="http://schemas.openxmlformats.org/package/2006/relationships"><Relationship Id="rId3" Type="http://schemas.openxmlformats.org/officeDocument/2006/relationships/oleObject" Target="file:///D:\Business_Analyst\Project_ONE\Project_Work\excel_Project\dunUse\DAshboard_HighCloud_EXCEL_G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
<Relationships xmlns="http://schemas.openxmlformats.org/package/2006/relationships"><Relationship Id="rId3" Type="http://schemas.openxmlformats.org/officeDocument/2006/relationships/oleObject" Target="file:///D:\Business_Analyst\Project_ONE\Project_Work\excel_Project\DAshboard_HighCloud_EXCE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
<Relationships xmlns="http://schemas.openxmlformats.org/package/2006/relationships"><Relationship Id="rId3" Type="http://schemas.openxmlformats.org/officeDocument/2006/relationships/oleObject" Target="file:///D:\Business_Analyst\Project_ONE\Project_Work\excel_Project\DAshboard_HighCloud_EXCE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[DAshboard_HighCloud_EXCEL_GG.xlsx]Q2!PivotTable3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000" b="0" i="0" u="none" strike="noStrike" kern="1200" spc="0" baseline="0">
                <a:solidFill>
                  <a:srgbClr val="002060"/>
                </a:solidFill>
                <a:latin typeface="Segoe UI Variable Small Semibol" pitchFamily="2" charset="0"/>
                <a:ea typeface="+mn-ea"/>
                <a:cs typeface="+mn-cs"/>
              </a:defRPr>
            </a:pPr>
            <a:r>
              <a:rPr lang="en-US" sz="1000" b="0" i="0" u="none" strike="noStrike" kern="1200" spc="0" baseline="0">
                <a:solidFill>
                  <a:srgbClr val="002060"/>
                </a:solidFill>
                <a:latin typeface="Segoe UI Variable Small Semibol" pitchFamily="2" charset="0"/>
                <a:ea typeface="+mn-ea"/>
                <a:cs typeface="+mn-cs"/>
              </a:rPr>
              <a:t>Year wise load factor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000" b="0" i="0" u="none" strike="noStrike" kern="1200" spc="0" baseline="0">
              <a:solidFill>
                <a:srgbClr val="002060"/>
              </a:solidFill>
              <a:latin typeface="Segoe UI Variable Small Semibol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'Q2'!$B$2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'Q2'!$A$3:$A$9</c:f>
              <c:strCache>
                <c:ptCount val="6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</c:strCache>
            </c:strRef>
          </c:cat>
          <c:val>
            <c:numRef>
              <c:f>'Q2'!$B$3:$B$9</c:f>
              <c:numCache>
                <c:formatCode>0.00%</c:formatCode>
                <c:ptCount val="6"/>
                <c:pt idx="0">
                  <c:v>0.75302298034550208</c:v>
                </c:pt>
                <c:pt idx="1">
                  <c:v>0.75409741124542373</c:v>
                </c:pt>
                <c:pt idx="2">
                  <c:v>0.76918625726419265</c:v>
                </c:pt>
                <c:pt idx="3">
                  <c:v>0.7772267436738669</c:v>
                </c:pt>
                <c:pt idx="4">
                  <c:v>0.77188772285350293</c:v>
                </c:pt>
                <c:pt idx="5">
                  <c:v>0.78117703019275142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40A-454D-8732-AB601CB61A9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89046160"/>
        <c:axId val="589045680"/>
      </c:lineChart>
      <c:catAx>
        <c:axId val="589046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9045680"/>
        <c:crosses val="autoZero"/>
        <c:auto val="1"/>
        <c:lblAlgn val="ctr"/>
        <c:lblOffset val="100"/>
        <c:noMultiLvlLbl val="0"/>
      </c:catAx>
      <c:valAx>
        <c:axId val="589045680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9046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[DAshboard_HighCloud_EXCEL_GG.xlsx]Q2!PivotTable4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000" b="0" i="0" u="none" strike="noStrike" kern="1200" spc="0" baseline="0">
                <a:solidFill>
                  <a:srgbClr val="002060"/>
                </a:solidFill>
                <a:latin typeface="Segoe UI Variable Small Semibol" pitchFamily="2" charset="0"/>
                <a:ea typeface="+mn-ea"/>
                <a:cs typeface="+mn-cs"/>
              </a:defRPr>
            </a:pPr>
            <a:r>
              <a:rPr lang="en-US" sz="1000" b="0" i="0" u="none" strike="noStrike" kern="1200" spc="0" baseline="0">
                <a:solidFill>
                  <a:srgbClr val="002060"/>
                </a:solidFill>
                <a:latin typeface="Segoe UI Variable Small Semibol" pitchFamily="2" charset="0"/>
                <a:ea typeface="+mn-ea"/>
                <a:cs typeface="+mn-cs"/>
              </a:rPr>
              <a:t>Qtr wise loadfactor</a:t>
            </a:r>
          </a:p>
        </c:rich>
      </c:tx>
      <c:layout>
        <c:manualLayout>
          <c:xMode val="edge"/>
          <c:yMode val="edge"/>
          <c:x val="0.35920888179999483"/>
          <c:y val="4.12329246786764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000" b="0" i="0" u="none" strike="noStrike" kern="1200" spc="0" baseline="0">
              <a:solidFill>
                <a:srgbClr val="002060"/>
              </a:solidFill>
              <a:latin typeface="Segoe UI Variable Small Semibol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bg2">
              <a:lumMod val="2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bg2">
              <a:lumMod val="2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bg2">
              <a:lumMod val="2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'Q2'!$F$2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bg2">
                <a:lumMod val="2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'Q2'!$E$3:$E$7</c:f>
              <c:strCache>
                <c:ptCount val="4"/>
                <c:pt idx="0">
                  <c:v>Qtr1</c:v>
                </c:pt>
                <c:pt idx="1">
                  <c:v>Qtr2</c:v>
                </c:pt>
                <c:pt idx="2">
                  <c:v>Qtr3</c:v>
                </c:pt>
                <c:pt idx="3">
                  <c:v>Qtr4</c:v>
                </c:pt>
              </c:strCache>
            </c:strRef>
          </c:cat>
          <c:val>
            <c:numRef>
              <c:f>'Q2'!$F$3:$F$7</c:f>
              <c:numCache>
                <c:formatCode>0.00%</c:formatCode>
                <c:ptCount val="4"/>
                <c:pt idx="0">
                  <c:v>0.72983511687203273</c:v>
                </c:pt>
                <c:pt idx="1">
                  <c:v>0.78067098643818877</c:v>
                </c:pt>
                <c:pt idx="2">
                  <c:v>0.79088510702337944</c:v>
                </c:pt>
                <c:pt idx="3">
                  <c:v>0.76827807018884553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20-4EF4-8BA9-9DD0352779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9068720"/>
        <c:axId val="589069680"/>
      </c:barChart>
      <c:catAx>
        <c:axId val="589068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9069680"/>
        <c:crosses val="autoZero"/>
        <c:auto val="1"/>
        <c:lblAlgn val="ctr"/>
        <c:lblOffset val="100"/>
        <c:noMultiLvlLbl val="0"/>
      </c:catAx>
      <c:valAx>
        <c:axId val="589069680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9068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[DAshboard_HighCloud_EXCEL.xlsx]Q6!PivotTable6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200" b="1"/>
              <a:t>Weekday / Weekend Occupancy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'Q6'!$B$2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7FC-43F8-83C0-216505B810B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7FC-43F8-83C0-216505B810BD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eparator>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'Q6'!$A$3:$A$5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'Q6'!$B$3:$B$5</c:f>
              <c:numCache>
                <c:formatCode>General</c:formatCode>
                <c:ptCount val="2"/>
                <c:pt idx="0">
                  <c:v>0.76730627959102859</c:v>
                </c:pt>
                <c:pt idx="1">
                  <c:v>0.76955691485522837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7FC-43F8-83C0-216505B810B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[DAshboard_HighCloud_EXCEL.xlsx]q7!PivotTable2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Flight Count by Distance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'q7'!$B$3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woPt" dir="tl"/>
            </a:scene3d>
            <a:sp3d prstMaterial="flat">
              <a:bevelT w="12700" h="25400" prst="coolSlant"/>
            </a:sp3d>
          </c:spPr>
          <c:invertIfNegative val="0"/>
          <c:cat>
            <c:strRef>
              <c:f>'q7'!$A$4:$A$23</c:f>
              <c:strCache>
                <c:ptCount val="19"/>
                <c:pt idx="0">
                  <c:v>Less Than 500 Miles</c:v>
                </c:pt>
                <c:pt idx="1">
                  <c:v>500-999 Miles</c:v>
                </c:pt>
                <c:pt idx="2">
                  <c:v>1000-1499 Miles</c:v>
                </c:pt>
                <c:pt idx="3">
                  <c:v>1500-1999 Miles</c:v>
                </c:pt>
                <c:pt idx="4">
                  <c:v>2000-2499 Miles</c:v>
                </c:pt>
                <c:pt idx="5">
                  <c:v>3500-3999 Miles</c:v>
                </c:pt>
                <c:pt idx="6">
                  <c:v>2500-2999 Miles</c:v>
                </c:pt>
                <c:pt idx="7">
                  <c:v>4000-4499 Miles</c:v>
                </c:pt>
                <c:pt idx="8">
                  <c:v>3000-3499 Miles</c:v>
                </c:pt>
                <c:pt idx="9">
                  <c:v>4500-4999 Miles</c:v>
                </c:pt>
                <c:pt idx="10">
                  <c:v>5000-5499 Miles</c:v>
                </c:pt>
                <c:pt idx="11">
                  <c:v>6500-6999 Miles</c:v>
                </c:pt>
                <c:pt idx="12">
                  <c:v>5500-5999 Miles</c:v>
                </c:pt>
                <c:pt idx="13">
                  <c:v>7000-7499 Miles</c:v>
                </c:pt>
                <c:pt idx="14">
                  <c:v>6000-6499 Miles</c:v>
                </c:pt>
                <c:pt idx="15">
                  <c:v>7500-7999 Miles</c:v>
                </c:pt>
                <c:pt idx="16">
                  <c:v>8000-8499 Miles</c:v>
                </c:pt>
                <c:pt idx="17">
                  <c:v>8500-8999 Miles</c:v>
                </c:pt>
                <c:pt idx="18">
                  <c:v>10000-10499 Miles</c:v>
                </c:pt>
              </c:strCache>
            </c:strRef>
          </c:cat>
          <c:val>
            <c:numRef>
              <c:f>'q7'!$B$4:$B$23</c:f>
              <c:numCache>
                <c:formatCode>General</c:formatCode>
                <c:ptCount val="19"/>
                <c:pt idx="0">
                  <c:v>58047</c:v>
                </c:pt>
                <c:pt idx="1">
                  <c:v>28131</c:v>
                </c:pt>
                <c:pt idx="2">
                  <c:v>11333</c:v>
                </c:pt>
                <c:pt idx="3">
                  <c:v>6092</c:v>
                </c:pt>
                <c:pt idx="4">
                  <c:v>2330</c:v>
                </c:pt>
                <c:pt idx="5">
                  <c:v>1084</c:v>
                </c:pt>
                <c:pt idx="6">
                  <c:v>855</c:v>
                </c:pt>
                <c:pt idx="7">
                  <c:v>810</c:v>
                </c:pt>
                <c:pt idx="8">
                  <c:v>612</c:v>
                </c:pt>
                <c:pt idx="9">
                  <c:v>524</c:v>
                </c:pt>
                <c:pt idx="10">
                  <c:v>419</c:v>
                </c:pt>
                <c:pt idx="11">
                  <c:v>174</c:v>
                </c:pt>
                <c:pt idx="12">
                  <c:v>145</c:v>
                </c:pt>
                <c:pt idx="13">
                  <c:v>117</c:v>
                </c:pt>
                <c:pt idx="14">
                  <c:v>83</c:v>
                </c:pt>
                <c:pt idx="15">
                  <c:v>58</c:v>
                </c:pt>
                <c:pt idx="16">
                  <c:v>32</c:v>
                </c:pt>
                <c:pt idx="17">
                  <c:v>4</c:v>
                </c:pt>
                <c:pt idx="1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9A-4576-9473-F129883B4B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4140543"/>
        <c:axId val="1499430832"/>
      </c:barChart>
      <c:valAx>
        <c:axId val="1499430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40543"/>
        <c:crosses val="autoZero"/>
        <c:crossBetween val="between"/>
      </c:valAx>
      <c:catAx>
        <c:axId val="4140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943083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3B51B-D2DF-4535-A17A-B8375AADE42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461EF-B611-4873-B780-AB5DA3C1D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58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461EF-B611-4873-B780-AB5DA3C1DE4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63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9282C-07CF-C21B-DEDE-58DD96722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33AE3-7F8A-ABFB-7EEC-865A77B20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16A820-6B2A-26FB-FD53-F610FF49E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CEA74-4D7F-8D1D-605B-01AD0DB81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461EF-B611-4873-B780-AB5DA3C1DE4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60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Hero Circle"/>
          <p:cNvSpPr/>
          <p:nvPr userDrawn="1"/>
        </p:nvSpPr>
        <p:spPr>
          <a:xfrm>
            <a:off x="7700000" y="1000000"/>
            <a:ext cx="4400000" cy="4400000"/>
          </a:xfrm>
          <a:prstGeom prst="ellipse">
            <a:avLst/>
          </a:prstGeom>
          <a:solidFill>
            <a:srgbClr val="1E90D6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Hero Dot"/>
          <p:cNvSpPr/>
          <p:nvPr userDrawn="1"/>
        </p:nvSpPr>
        <p:spPr>
          <a:xfrm>
            <a:off x="11050000" y="950000"/>
            <a:ext cx="520000" cy="520000"/>
          </a:xfrm>
          <a:prstGeom prst="ellipse">
            <a:avLst/>
          </a:prstGeom>
          <a:solidFill>
            <a:srgbClr val="FFB000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Hero Dot 2"/>
          <p:cNvSpPr/>
          <p:nvPr userDrawn="1"/>
        </p:nvSpPr>
        <p:spPr>
          <a:xfrm>
            <a:off x="7350000" y="4950000"/>
            <a:ext cx="300000" cy="3000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532FF-1F27-4ED8-84CC-1CD36897CD7E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0449-E717-4EF4-A6D4-786A78827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205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532FF-1F27-4ED8-84CC-1CD36897CD7E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0449-E717-4EF4-A6D4-786A78827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072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532FF-1F27-4ED8-84CC-1CD36897CD7E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0449-E717-4EF4-A6D4-786A78827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593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532FF-1F27-4ED8-84CC-1CD36897CD7E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0449-E717-4EF4-A6D4-786A78827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18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532FF-1F27-4ED8-84CC-1CD36897CD7E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0449-E717-4EF4-A6D4-786A78827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4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532FF-1F27-4ED8-84CC-1CD36897CD7E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0449-E717-4EF4-A6D4-786A78827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593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532FF-1F27-4ED8-84CC-1CD36897CD7E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0449-E717-4EF4-A6D4-786A78827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641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532FF-1F27-4ED8-84CC-1CD36897CD7E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0449-E717-4EF4-A6D4-786A78827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479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532FF-1F27-4ED8-84CC-1CD36897CD7E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0449-E717-4EF4-A6D4-786A78827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52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532FF-1F27-4ED8-84CC-1CD36897CD7E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0449-E717-4EF4-A6D4-786A78827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78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532FF-1F27-4ED8-84CC-1CD36897CD7E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0449-E717-4EF4-A6D4-786A78827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64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34435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" name="Motif Circle Large"/>
          <p:cNvSpPr/>
          <p:nvPr userDrawn="1"/>
        </p:nvSpPr>
        <p:spPr>
          <a:xfrm>
            <a:off x="380000" y="6040000"/>
            <a:ext cx="600000" cy="600000"/>
          </a:xfrm>
          <a:prstGeom prst="ellipse">
            <a:avLst/>
          </a:prstGeom>
          <a:solidFill>
            <a:srgbClr val="1E90D6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Motif Circle Small"/>
          <p:cNvSpPr/>
          <p:nvPr userDrawn="1"/>
        </p:nvSpPr>
        <p:spPr>
          <a:xfrm>
            <a:off x="860000" y="5950000"/>
            <a:ext cx="250000" cy="250000"/>
          </a:xfrm>
          <a:prstGeom prst="ellipse">
            <a:avLst/>
          </a:prstGeom>
          <a:solidFill>
            <a:srgbClr val="FFB000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C9532FF-1F27-4ED8-84CC-1CD36897CD7E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D5270449-E717-4EF4-A6D4-786A788279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015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 spc="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3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3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3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3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3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3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3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3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3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73210-4B4B-1508-DC9A-86616D323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1100000"/>
            <a:ext cx="6700000" cy="2600000"/>
          </a:xfrm>
        </p:spPr>
        <p:txBody>
          <a:bodyPr>
            <a:normAutofit/>
          </a:bodyPr>
          <a:lstStyle/>
          <a:p>
            <a:r>
              <a:rPr lang="en-IN" sz="6600" b="1" dirty="0"/>
              <a:t>Highcloud</a:t>
            </a:r>
            <a:br>
              <a:rPr lang="en-IN" sz="6600" b="1" dirty="0"/>
            </a:br>
            <a:r>
              <a:rPr lang="en-IN" sz="6600" b="1" dirty="0"/>
              <a:t>Airlines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C786A-29D9-AAC9-3625-24D4F5245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000" y="3900000"/>
            <a:ext cx="6700000" cy="1200000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FFFFFF"/>
                </a:solidFill>
              </a:rPr>
              <a:t>Airline Performance &amp; Passenger Trends Analysis</a:t>
            </a:r>
          </a:p>
          <a:p>
            <a:r>
              <a:rPr lang="en-IN" sz="1800" dirty="0">
                <a:solidFill>
                  <a:srgbClr val="BFD7F2"/>
                </a:solidFill>
              </a:rPr>
              <a:t>SQL  |  Excel  |  Power BI  |  Tableau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2F3298-8F2D-CD14-FEE0-E4D79B309BBB}"/>
              </a:ext>
            </a:extLst>
          </p:cNvPr>
          <p:cNvSpPr txBox="1"/>
          <p:nvPr/>
        </p:nvSpPr>
        <p:spPr>
          <a:xfrm>
            <a:off x="810000" y="5350000"/>
            <a:ext cx="3000000" cy="4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chemeClr val="accent2"/>
                </a:solidFill>
              </a:rPr>
              <a:t>Group 6</a:t>
            </a:r>
          </a:p>
        </p:txBody>
      </p:sp>
      <p:pic>
        <p:nvPicPr>
          <p:cNvPr id="6" name="Google Shape;854;p52">
            <a:extLst>
              <a:ext uri="{FF2B5EF4-FFF2-40B4-BE49-F238E27FC236}">
                <a16:creationId xmlns:a16="http://schemas.microsoft.com/office/drawing/2014/main" id="{7AD514C5-B54E-421C-38BD-8ED1FE797BE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20249072">
            <a:off x="7850000" y="2250000"/>
            <a:ext cx="4000000" cy="190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6895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E69BE-E876-416F-10BA-1877431A6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124" y="921819"/>
            <a:ext cx="2947482" cy="4601183"/>
          </a:xfrm>
        </p:spPr>
        <p:txBody>
          <a:bodyPr/>
          <a:lstStyle/>
          <a:p>
            <a:r>
              <a:rPr lang="en-IN" dirty="0"/>
              <a:t>Project Objective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39569-B7C7-CD07-A924-644DB721E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1711840"/>
            <a:ext cx="7858444" cy="47208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/>
              <a:t>The objective of this project is to analyse airline operational performance and passenger trends using SQL, Excel, Tableau and Power BI.</a:t>
            </a:r>
          </a:p>
          <a:p>
            <a:pPr marL="0" indent="0">
              <a:buNone/>
            </a:pPr>
            <a:r>
              <a:rPr lang="en-IN" sz="2200" dirty="0"/>
              <a:t>The dashboard helps stakeholders understand:</a:t>
            </a:r>
          </a:p>
          <a:p>
            <a:pPr lvl="0"/>
            <a:r>
              <a:rPr lang="en-IN" sz="2200" dirty="0"/>
              <a:t>Load Factor </a:t>
            </a:r>
          </a:p>
          <a:p>
            <a:pPr lvl="0"/>
            <a:r>
              <a:rPr lang="en-IN" sz="2200" dirty="0"/>
              <a:t>Passenger Trends </a:t>
            </a:r>
          </a:p>
          <a:p>
            <a:pPr lvl="0"/>
            <a:r>
              <a:rPr lang="en-IN" sz="2200" dirty="0"/>
              <a:t>Airline Performance </a:t>
            </a:r>
          </a:p>
          <a:p>
            <a:pPr lvl="0"/>
            <a:r>
              <a:rPr lang="en-IN" sz="2200" dirty="0"/>
              <a:t>Route Analysis </a:t>
            </a:r>
          </a:p>
          <a:p>
            <a:pPr lvl="0"/>
            <a:r>
              <a:rPr lang="en-IN" sz="2200" dirty="0"/>
              <a:t>Distance Group Analysis </a:t>
            </a:r>
          </a:p>
          <a:p>
            <a:pPr lvl="0"/>
            <a:r>
              <a:rPr lang="en-IN" sz="2200" dirty="0"/>
              <a:t>Weekday vs Weekend Performance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9319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04E99-1182-CEF2-535B-C0B97D670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21" y="997219"/>
            <a:ext cx="2947482" cy="1429467"/>
          </a:xfrm>
        </p:spPr>
        <p:txBody>
          <a:bodyPr/>
          <a:lstStyle/>
          <a:p>
            <a:r>
              <a:rPr lang="en-IN" dirty="0"/>
              <a:t>Excel 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029BBF9-3D9F-C1FC-074A-7F1D6B721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068" y="1701209"/>
            <a:ext cx="8350340" cy="4216337"/>
          </a:xfrm>
          <a:prstGeom prst="rect">
            <a:avLst/>
          </a:prstGeom>
          <a:ln w="12700">
            <a:solidFill>
              <a:srgbClr val="D5DEE9"/>
            </a:solidFill>
          </a:ln>
          <a:effectLst>
            <a:outerShdw blurRad="127000" dist="38100" dir="5400000" algn="t" rotWithShape="0">
              <a:srgbClr val="14233C">
                <a:alpha val="1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6484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E48F6-A3B2-5C1F-7250-D2CA4A5D5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1790-CE43-4D43-EB39-E88812A91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21" y="997219"/>
            <a:ext cx="2947482" cy="1429467"/>
          </a:xfrm>
        </p:spPr>
        <p:txBody>
          <a:bodyPr>
            <a:normAutofit/>
          </a:bodyPr>
          <a:lstStyle/>
          <a:p>
            <a:r>
              <a:rPr lang="en-IN" dirty="0"/>
              <a:t>Excel Dashboard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E5F7CA-8055-036C-BA98-87830FA6668B}"/>
              </a:ext>
            </a:extLst>
          </p:cNvPr>
          <p:cNvSpPr txBox="1"/>
          <p:nvPr/>
        </p:nvSpPr>
        <p:spPr>
          <a:xfrm>
            <a:off x="3462670" y="1956508"/>
            <a:ext cx="872933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Key Insights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187 million passengers</a:t>
            </a:r>
            <a:r>
              <a:rPr lang="en-IN" sz="2400" dirty="0"/>
              <a:t> were transported during the analysis period.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Airlines operated approximately </a:t>
            </a:r>
            <a:r>
              <a:rPr lang="en-IN" sz="2400" b="1" dirty="0"/>
              <a:t>3 million flights</a:t>
            </a:r>
            <a:r>
              <a:rPr lang="en-IN" sz="2400" dirty="0"/>
              <a:t> covering </a:t>
            </a:r>
            <a:r>
              <a:rPr lang="en-IN" sz="2400" b="1" dirty="0"/>
              <a:t>82 million miles</a:t>
            </a:r>
            <a:r>
              <a:rPr lang="en-IN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Data includes operations across </a:t>
            </a:r>
            <a:r>
              <a:rPr lang="en-IN" sz="2400" b="1" dirty="0"/>
              <a:t>200+ airlines</a:t>
            </a:r>
            <a:r>
              <a:rPr lang="en-IN" sz="2400" dirty="0"/>
              <a:t> and </a:t>
            </a:r>
            <a:r>
              <a:rPr lang="en-IN" sz="2400" b="1" dirty="0"/>
              <a:t>more than</a:t>
            </a:r>
          </a:p>
          <a:p>
            <a:pPr lvl="0"/>
            <a:r>
              <a:rPr lang="en-IN" sz="2400" b="1" dirty="0"/>
              <a:t>     100 countries.</a:t>
            </a:r>
            <a:endParaRPr lang="en-IN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Overall </a:t>
            </a:r>
            <a:r>
              <a:rPr lang="en-IN" sz="2400" b="1" dirty="0"/>
              <a:t>Load Factor remained above 75%</a:t>
            </a:r>
            <a:r>
              <a:rPr lang="en-IN" sz="2400" dirty="0"/>
              <a:t>, indicating efficient seat utilization.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Passenger traffic is concentrated among a few major airlines, while several smaller carriers contribute comparatively less.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7959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34B8-C096-6D12-1FF7-7D0BF3AB9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09" y="893135"/>
            <a:ext cx="2872563" cy="1623434"/>
          </a:xfrm>
        </p:spPr>
        <p:txBody>
          <a:bodyPr/>
          <a:lstStyle/>
          <a:p>
            <a:r>
              <a:rPr lang="en-IN" dirty="0"/>
              <a:t>Power BI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D5F8DB-EB43-C1EA-00D0-A327768F5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583" y="1559924"/>
            <a:ext cx="8366310" cy="4543164"/>
          </a:xfrm>
          <a:prstGeom prst="rect">
            <a:avLst/>
          </a:prstGeom>
          <a:ln w="12700">
            <a:solidFill>
              <a:srgbClr val="D5DEE9"/>
            </a:solidFill>
          </a:ln>
          <a:effectLst>
            <a:outerShdw blurRad="127000" dist="38100" dir="5400000" algn="t" rotWithShape="0">
              <a:srgbClr val="14233C">
                <a:alpha val="1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4436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A18D1-FD6A-082D-6D3C-3C859D79D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DFFDD-7768-F1F5-115F-B79054D6A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09" y="893135"/>
            <a:ext cx="2872563" cy="1623434"/>
          </a:xfrm>
        </p:spPr>
        <p:txBody>
          <a:bodyPr/>
          <a:lstStyle/>
          <a:p>
            <a:r>
              <a:rPr lang="en-IN" dirty="0"/>
              <a:t>Power BI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C1D1D0-A517-6063-2765-75A6320A0F38}"/>
              </a:ext>
            </a:extLst>
          </p:cNvPr>
          <p:cNvSpPr txBox="1"/>
          <p:nvPr/>
        </p:nvSpPr>
        <p:spPr>
          <a:xfrm>
            <a:off x="3360085" y="2081312"/>
            <a:ext cx="883191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Key Insights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200" b="1" dirty="0"/>
              <a:t>Atlanta, GA – New York, NY</a:t>
            </a:r>
            <a:r>
              <a:rPr lang="en-IN" sz="2200" dirty="0"/>
              <a:t> recorded the highest number of departures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200" dirty="0"/>
              <a:t>Other high-demand routes include: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/>
              <a:t>Boston – New York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/>
              <a:t>Washington DC – New York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/>
              <a:t>New York – Boston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200" dirty="0"/>
              <a:t>Most flights fall within the </a:t>
            </a:r>
            <a:r>
              <a:rPr lang="en-IN" sz="2200" b="1" dirty="0"/>
              <a:t>0–500 mile</a:t>
            </a:r>
            <a:r>
              <a:rPr lang="en-IN" sz="2200" dirty="0"/>
              <a:t> distance group.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200" dirty="0"/>
              <a:t>Flight volume decreases progressively as travel distance increases.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200" dirty="0"/>
              <a:t>Short-distance routes </a:t>
            </a:r>
            <a:r>
              <a:rPr lang="en-IN" sz="2200" b="1" dirty="0"/>
              <a:t>contribute the largest </a:t>
            </a:r>
            <a:r>
              <a:rPr lang="en-IN" sz="2200" dirty="0"/>
              <a:t>share of airline operations.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03579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B7B3F-8289-B844-0B30-6A5BC211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1204693"/>
          </a:xfrm>
        </p:spPr>
        <p:txBody>
          <a:bodyPr/>
          <a:lstStyle/>
          <a:p>
            <a:r>
              <a:rPr lang="en-IN" dirty="0"/>
              <a:t>Tableau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4AA305-0072-694C-B9FD-B2B3B106C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051" y="1095156"/>
            <a:ext cx="8406177" cy="5043706"/>
          </a:xfrm>
          <a:prstGeom prst="rect">
            <a:avLst/>
          </a:prstGeom>
          <a:ln w="12700">
            <a:solidFill>
              <a:srgbClr val="D5DEE9"/>
            </a:solidFill>
          </a:ln>
          <a:effectLst>
            <a:outerShdw blurRad="127000" dist="38100" dir="5400000" algn="t" rotWithShape="0">
              <a:srgbClr val="14233C">
                <a:alpha val="1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15008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3F6D0-8707-4D6E-6079-0FFE20B87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1CED8-D2DA-E9AC-AF3F-447D4CF01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3669" y="1938599"/>
            <a:ext cx="8624776" cy="4613978"/>
          </a:xfrm>
        </p:spPr>
        <p:txBody>
          <a:bodyPr>
            <a:normAutofit/>
          </a:bodyPr>
          <a:lstStyle/>
          <a:p>
            <a:r>
              <a:rPr lang="en-IN" sz="2400" b="1" dirty="0"/>
              <a:t>Key Insights</a:t>
            </a:r>
          </a:p>
          <a:p>
            <a:pPr lvl="0"/>
            <a:r>
              <a:rPr lang="en-IN" sz="2400" b="1" dirty="0"/>
              <a:t>Southwest Airlines</a:t>
            </a:r>
            <a:r>
              <a:rPr lang="en-IN" sz="2400" dirty="0"/>
              <a:t> carried the highest number of passengers (around </a:t>
            </a:r>
            <a:r>
              <a:rPr lang="en-IN" sz="2400" b="1" dirty="0"/>
              <a:t>34 million</a:t>
            </a:r>
            <a:r>
              <a:rPr lang="en-IN" sz="2400" dirty="0"/>
              <a:t>). </a:t>
            </a:r>
          </a:p>
          <a:p>
            <a:pPr lvl="0"/>
            <a:r>
              <a:rPr lang="en-IN" sz="2400" b="1" dirty="0"/>
              <a:t>Delta Air Lines</a:t>
            </a:r>
            <a:r>
              <a:rPr lang="en-IN" sz="2400" dirty="0"/>
              <a:t> ranked second with approximately </a:t>
            </a:r>
            <a:r>
              <a:rPr lang="en-IN" sz="2400" b="1" dirty="0"/>
              <a:t>29 million</a:t>
            </a:r>
            <a:r>
              <a:rPr lang="en-IN" sz="2400" dirty="0"/>
              <a:t> passengers. </a:t>
            </a:r>
          </a:p>
          <a:p>
            <a:pPr lvl="0"/>
            <a:r>
              <a:rPr lang="en-IN" sz="2400" dirty="0"/>
              <a:t>The </a:t>
            </a:r>
            <a:r>
              <a:rPr lang="en-IN" sz="2400" b="1" dirty="0"/>
              <a:t>Top 10 airlines</a:t>
            </a:r>
            <a:r>
              <a:rPr lang="en-IN" sz="2400" dirty="0"/>
              <a:t> accounted for a significant share of the total passenger traffic. </a:t>
            </a:r>
          </a:p>
          <a:p>
            <a:pPr lvl="0"/>
            <a:r>
              <a:rPr lang="en-IN" sz="2400" dirty="0"/>
              <a:t>Load factors among the top carriers remained consistently high, ranging from approximately </a:t>
            </a:r>
            <a:r>
              <a:rPr lang="en-IN" sz="2400" b="1" dirty="0"/>
              <a:t>88% to 95%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Higher load factors indicate better utilization of available seating capacity.</a:t>
            </a:r>
          </a:p>
          <a:p>
            <a:endParaRPr lang="en-IN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127898E-E94B-03E8-A75D-16FBEA25374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1204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Tableau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4257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BE324-BD54-3AFE-F738-E38F06B53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53" y="1041991"/>
            <a:ext cx="2947482" cy="887206"/>
          </a:xfrm>
        </p:spPr>
        <p:txBody>
          <a:bodyPr/>
          <a:lstStyle/>
          <a:p>
            <a:r>
              <a:rPr lang="en-IN" dirty="0"/>
              <a:t>SQL Queries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05811B6-FE8F-85F8-E738-571572D1C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878" y="772349"/>
            <a:ext cx="5061210" cy="2902099"/>
          </a:xfrm>
          <a:prstGeom prst="rect">
            <a:avLst/>
          </a:prstGeom>
          <a:ln w="12700">
            <a:solidFill>
              <a:srgbClr val="D5DEE9"/>
            </a:solidFill>
          </a:ln>
          <a:effectLst>
            <a:outerShdw blurRad="127000" dist="38100" dir="5400000" algn="t" rotWithShape="0">
              <a:srgbClr val="14233C">
                <a:alpha val="18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56179D-2DD0-F112-E3EC-7C9C48493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161" y="3654388"/>
            <a:ext cx="5321573" cy="2832246"/>
          </a:xfrm>
          <a:prstGeom prst="rect">
            <a:avLst/>
          </a:prstGeom>
          <a:ln w="12700">
            <a:solidFill>
              <a:srgbClr val="D5DEE9"/>
            </a:solidFill>
          </a:ln>
          <a:effectLst>
            <a:outerShdw blurRad="127000" dist="38100" dir="5400000" algn="t" rotWithShape="0">
              <a:srgbClr val="14233C">
                <a:alpha val="1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5236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FF7F5-49B1-A37B-E8CB-8A035D774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D0CA0-8519-020D-006A-0DD9010FD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53" y="1041991"/>
            <a:ext cx="2947482" cy="887206"/>
          </a:xfrm>
        </p:spPr>
        <p:txBody>
          <a:bodyPr/>
          <a:lstStyle/>
          <a:p>
            <a:r>
              <a:rPr lang="en-IN" dirty="0"/>
              <a:t>SQL Queries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1358DB-5F89-0806-3886-C8DEDDAA6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220" y="836045"/>
            <a:ext cx="5067560" cy="2730640"/>
          </a:xfrm>
          <a:prstGeom prst="rect">
            <a:avLst/>
          </a:prstGeom>
          <a:ln w="12700">
            <a:solidFill>
              <a:srgbClr val="D5DEE9"/>
            </a:solidFill>
          </a:ln>
          <a:effectLst>
            <a:outerShdw blurRad="127000" dist="38100" dir="5400000" algn="t" rotWithShape="0">
              <a:srgbClr val="14233C">
                <a:alpha val="18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F6563B-CB84-A196-FC70-294B85770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375" y="3520609"/>
            <a:ext cx="4489681" cy="2425825"/>
          </a:xfrm>
          <a:prstGeom prst="rect">
            <a:avLst/>
          </a:prstGeom>
          <a:ln w="12700">
            <a:solidFill>
              <a:srgbClr val="D5DEE9"/>
            </a:solidFill>
          </a:ln>
          <a:effectLst>
            <a:outerShdw blurRad="127000" dist="38100" dir="5400000" algn="t" rotWithShape="0">
              <a:srgbClr val="14233C">
                <a:alpha val="1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3190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5E8C4-715A-DC2F-F789-7C0C99EC5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58" y="893136"/>
            <a:ext cx="2947482" cy="3625701"/>
          </a:xfrm>
        </p:spPr>
        <p:txBody>
          <a:bodyPr>
            <a:normAutofit/>
          </a:bodyPr>
          <a:lstStyle/>
          <a:p>
            <a:r>
              <a:rPr lang="en-US" sz="2400" dirty="0"/>
              <a:t>02.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Load Factor year wise</a:t>
            </a:r>
            <a:br>
              <a:rPr lang="en-US" sz="2400" dirty="0"/>
            </a:br>
            <a:r>
              <a:rPr lang="en-IN" sz="2400" dirty="0"/>
              <a:t>remained consistently high, ranging from approximately </a:t>
            </a:r>
            <a:r>
              <a:rPr lang="en-IN" sz="2400" b="1" dirty="0"/>
              <a:t>75% to 78%</a:t>
            </a:r>
            <a:r>
              <a:rPr lang="en-US" sz="2400" dirty="0"/>
              <a:t> 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Quarter wise its between 72%  to 76%.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F7F594B-F7DF-41D2-B831-BAE341EF95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063970"/>
              </p:ext>
            </p:extLst>
          </p:nvPr>
        </p:nvGraphicFramePr>
        <p:xfrm>
          <a:off x="3462338" y="765546"/>
          <a:ext cx="4841689" cy="2572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CB140BA-E823-46E3-B0D2-24FD37E80C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3145753"/>
              </p:ext>
            </p:extLst>
          </p:nvPr>
        </p:nvGraphicFramePr>
        <p:xfrm>
          <a:off x="6479854" y="3375835"/>
          <a:ext cx="5332918" cy="27166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51417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7289-B0A4-B0F4-CBE0-E88494A76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A74F9-4C64-AD5C-9E94-4CF73517F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58" y="978200"/>
            <a:ext cx="2947482" cy="3817771"/>
          </a:xfrm>
        </p:spPr>
        <p:txBody>
          <a:bodyPr>
            <a:normAutofit/>
          </a:bodyPr>
          <a:lstStyle/>
          <a:p>
            <a:r>
              <a:rPr lang="en-US" sz="2400" dirty="0"/>
              <a:t>03.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A higher Load Factor indicates better seat utilization and operational efficiency.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A lower Load Factor suggests that flights are operating with many empty seats.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F2EBD-5932-136B-0541-6C364DD4E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949" y="1434713"/>
            <a:ext cx="8355539" cy="4657749"/>
          </a:xfrm>
          <a:prstGeom prst="rect">
            <a:avLst/>
          </a:prstGeom>
          <a:ln w="12700">
            <a:solidFill>
              <a:srgbClr val="D5DEE9"/>
            </a:solidFill>
          </a:ln>
          <a:effectLst>
            <a:outerShdw blurRad="127000" dist="38100" dir="5400000" algn="t" rotWithShape="0">
              <a:srgbClr val="14233C">
                <a:alpha val="1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215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E7D99-F464-9D21-30E0-6276E08CC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58453-F999-35C2-92A7-F56E8B63B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58" y="893136"/>
            <a:ext cx="2947482" cy="3774557"/>
          </a:xfrm>
        </p:spPr>
        <p:txBody>
          <a:bodyPr>
            <a:normAutofit/>
          </a:bodyPr>
          <a:lstStyle/>
          <a:p>
            <a:r>
              <a:rPr lang="en-US" sz="2400" dirty="0"/>
              <a:t>04.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Southwest Airlines has the highest passenger preference (34M).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Passenger traffic is concentrated among major airlines.</a:t>
            </a:r>
            <a:br>
              <a:rPr lang="en-US" sz="2400" dirty="0"/>
            </a:br>
            <a:r>
              <a:rPr lang="en-US" sz="2400" dirty="0"/>
              <a:t>Useful for capacity and route planning.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F827F2-916D-DD41-2C41-08ADA22DE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316" y="1254649"/>
            <a:ext cx="8370397" cy="4890970"/>
          </a:xfrm>
          <a:prstGeom prst="rect">
            <a:avLst/>
          </a:prstGeom>
          <a:ln w="12700">
            <a:solidFill>
              <a:srgbClr val="D5DEE9"/>
            </a:solidFill>
          </a:ln>
          <a:effectLst>
            <a:outerShdw blurRad="127000" dist="38100" dir="5400000" algn="t" rotWithShape="0">
              <a:srgbClr val="14233C">
                <a:alpha val="1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009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B5A1-1B10-59E2-12FB-8CE25D5B8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B18BC-C3E7-4F4E-574C-8DECC6DF1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58" y="893136"/>
            <a:ext cx="2947482" cy="3519377"/>
          </a:xfrm>
        </p:spPr>
        <p:txBody>
          <a:bodyPr>
            <a:normAutofit/>
          </a:bodyPr>
          <a:lstStyle/>
          <a:p>
            <a:r>
              <a:rPr lang="en-US" sz="2400" dirty="0"/>
              <a:t>05.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Number of flights from Atlanta to New York is the highest.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Closely followed by Boston to New York and Washington DC to New York.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3A9EBA-A6B2-4CEF-B11B-A6B753A5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414" y="956930"/>
            <a:ext cx="7485321" cy="4869712"/>
          </a:xfrm>
          <a:prstGeom prst="rect">
            <a:avLst/>
          </a:prstGeom>
          <a:ln w="12700">
            <a:solidFill>
              <a:srgbClr val="D5DEE9"/>
            </a:solidFill>
          </a:ln>
          <a:effectLst>
            <a:outerShdw blurRad="127000" dist="38100" dir="5400000" algn="t" rotWithShape="0">
              <a:srgbClr val="14233C">
                <a:alpha val="1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3442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CF3AA-4AF2-1EA6-F5C1-1C93E13E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17632-BD0E-387B-92AB-96D9DFEE1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56" y="956930"/>
            <a:ext cx="2947482" cy="4869712"/>
          </a:xfrm>
        </p:spPr>
        <p:txBody>
          <a:bodyPr>
            <a:normAutofit/>
          </a:bodyPr>
          <a:lstStyle/>
          <a:p>
            <a:r>
              <a:rPr lang="en-US" sz="2400" dirty="0"/>
              <a:t>06.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Load factor for all days is almost same.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Airlines should use strategies to increase occupancy for weekends.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Prospective passengers are more likely to travel for leisure in weekends.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AB8F84-D31A-3E1F-B092-E84E489ED33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68738" y="863600"/>
          <a:ext cx="7315200" cy="512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90469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34547-290D-2B6F-4308-D822D1E45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3399F-0465-C3CF-B16F-1B38A1F50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56" y="863600"/>
            <a:ext cx="2947482" cy="4963042"/>
          </a:xfrm>
        </p:spPr>
        <p:txBody>
          <a:bodyPr>
            <a:normAutofit/>
          </a:bodyPr>
          <a:lstStyle/>
          <a:p>
            <a:r>
              <a:rPr lang="en-US" sz="2400" dirty="0"/>
              <a:t>07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Flights operating on routes less than 500 miles shows strong demand.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Company should also focus on flights routes more than 500 miles by giving discounts and other benefits.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2E5091E-97F3-4046-B787-1C72571943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0069489"/>
              </p:ext>
            </p:extLst>
          </p:nvPr>
        </p:nvGraphicFramePr>
        <p:xfrm>
          <a:off x="3868738" y="863600"/>
          <a:ext cx="7315200" cy="512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55203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8473B-B9E8-7C00-8A2A-00B6FDA0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FB613-55BE-1D74-5FD7-BD27544D2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53" y="1041991"/>
            <a:ext cx="2947482" cy="88720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Insights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373BE-9460-19A5-9582-F34CA710D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7280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 Load Factor indicates better seat utilization and operational efficiency.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Passenger demand varies across different airlines, highlighting customer preferences.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N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Chicago–Detroit</a:t>
            </a: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the busiest route, with major hubs including </a:t>
            </a:r>
            <a:r>
              <a:rPr lang="en-IN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Chicago, Atlanta, and Washington DC</a:t>
            </a: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Passenger traffic on weekdays and weekends is almost same.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Most flights operate on routes </a:t>
            </a:r>
            <a:r>
              <a:rPr lang="en-IN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less than 500 miles</a:t>
            </a: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showing strong demand for short-haul travel.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Monthly, quarterly, and yearly analysis helps identify seasonal trends in airline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analysis supports better route planning, resource allocation, and data-driven decision-making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982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E412B-07C7-F536-A52F-E7FE3A3E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89" y="823727"/>
            <a:ext cx="3253563" cy="907430"/>
          </a:xfrm>
        </p:spPr>
        <p:txBody>
          <a:bodyPr>
            <a:normAutofit/>
          </a:bodyPr>
          <a:lstStyle/>
          <a:p>
            <a:r>
              <a:rPr lang="en-IN" sz="3200" dirty="0"/>
              <a:t>What We Learned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A7E773-7FA5-C942-A645-455BE0773464}"/>
              </a:ext>
            </a:extLst>
          </p:cNvPr>
          <p:cNvSpPr txBox="1"/>
          <p:nvPr/>
        </p:nvSpPr>
        <p:spPr>
          <a:xfrm>
            <a:off x="7097631" y="1570923"/>
            <a:ext cx="370013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Technical Skills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SQL Joins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Aggregate Functions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GROUP BY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CASE Statements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Date Functions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Load Factor Calculation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AB7A36-60B3-3435-EC3A-4253182B9A9B}"/>
              </a:ext>
            </a:extLst>
          </p:cNvPr>
          <p:cNvSpPr txBox="1"/>
          <p:nvPr/>
        </p:nvSpPr>
        <p:spPr>
          <a:xfrm>
            <a:off x="7097631" y="4138707"/>
            <a:ext cx="370013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Business Skills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Airline Performance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Route Optimization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Capacity Utilization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Trend Analysis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D8011-73AE-AE57-4B7C-807EA784BDD7}"/>
              </a:ext>
            </a:extLst>
          </p:cNvPr>
          <p:cNvSpPr txBox="1"/>
          <p:nvPr/>
        </p:nvSpPr>
        <p:spPr>
          <a:xfrm>
            <a:off x="3863162" y="1539769"/>
            <a:ext cx="243131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Visualization Skills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Tableau Dashboard Design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Power BI KPIs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Interactive Filters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Charts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Business Storytelling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596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3656B-CA7D-1481-8ACF-1A012813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9" y="1010093"/>
            <a:ext cx="3381152" cy="1301876"/>
          </a:xfrm>
        </p:spPr>
        <p:txBody>
          <a:bodyPr>
            <a:normAutofit/>
          </a:bodyPr>
          <a:lstStyle/>
          <a:p>
            <a:r>
              <a:rPr lang="en-IN" dirty="0"/>
              <a:t>Challenges Faced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41F54-76E5-D551-369D-AC19DF5AAF65}"/>
              </a:ext>
            </a:extLst>
          </p:cNvPr>
          <p:cNvSpPr txBox="1"/>
          <p:nvPr/>
        </p:nvSpPr>
        <p:spPr>
          <a:xfrm>
            <a:off x="7231038" y="1855096"/>
            <a:ext cx="316850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Data Challenges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CSV Import Issues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Passenger Data Import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Date Conversion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Duplicate Columns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171DE-38D3-0353-A057-E88C1A05DDAD}"/>
              </a:ext>
            </a:extLst>
          </p:cNvPr>
          <p:cNvSpPr txBox="1"/>
          <p:nvPr/>
        </p:nvSpPr>
        <p:spPr>
          <a:xfrm>
            <a:off x="7231038" y="3939068"/>
            <a:ext cx="316850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SQL Challenges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Load Factor Calculation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Financial Quarter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Weekday Calculations</a:t>
            </a:r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FA4559-FE9B-5074-68D5-AB4C285C740B}"/>
              </a:ext>
            </a:extLst>
          </p:cNvPr>
          <p:cNvSpPr txBox="1"/>
          <p:nvPr/>
        </p:nvSpPr>
        <p:spPr>
          <a:xfrm>
            <a:off x="3937829" y="1855096"/>
            <a:ext cx="29474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2000" b="1" u="sng" dirty="0"/>
              <a:t>Dashboard Challenges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Sorting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KPI Formatting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Filters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Route Analysis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8899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62BA6-AB61-9FEA-1665-37DFC8B50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BDC91-0DBA-2A03-E81C-126064B70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10093"/>
            <a:ext cx="3434316" cy="1301876"/>
          </a:xfrm>
        </p:spPr>
        <p:txBody>
          <a:bodyPr>
            <a:normAutofit/>
          </a:bodyPr>
          <a:lstStyle/>
          <a:p>
            <a:r>
              <a:rPr lang="en-IN" dirty="0"/>
              <a:t>How we tackled </a:t>
            </a:r>
            <a:br>
              <a:rPr lang="en-IN" dirty="0"/>
            </a:br>
            <a:r>
              <a:rPr lang="en-IN" dirty="0"/>
              <a:t>the 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D9667-D15F-8CA6-228E-2F4D220DDA1D}"/>
              </a:ext>
            </a:extLst>
          </p:cNvPr>
          <p:cNvSpPr txBox="1"/>
          <p:nvPr/>
        </p:nvSpPr>
        <p:spPr>
          <a:xfrm>
            <a:off x="4572001" y="1881657"/>
            <a:ext cx="635673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Solution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Used functions to calculate the data - years, month and day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>
                <a:ea typeface="Open Sans" panose="020B0606030504020204" pitchFamily="34" charset="0"/>
                <a:cs typeface="Open Sans" panose="020B0606030504020204" pitchFamily="34" charset="0"/>
              </a:rPr>
              <a:t>Analyzed airline seat utilization.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Compared yearly Load Factor (%).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Evaluated overall performance trend.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Open Sans" panose="020B0606030504020204" pitchFamily="34" charset="0"/>
                <a:cs typeface="Open Sans" panose="020B0606030504020204" pitchFamily="34" charset="0"/>
              </a:rPr>
              <a:t>We used load factor field to evaluate week day/ weekend occupancy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Open Sans" panose="020B0606030504020204" pitchFamily="34" charset="0"/>
                <a:cs typeface="Open Sans" panose="020B0606030504020204" pitchFamily="34" charset="0"/>
              </a:rPr>
              <a:t>Power query and power bi tools were very helpful in our analysis.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425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E51A8-DA0A-FA0B-0D18-5859A6711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767" y="1212783"/>
            <a:ext cx="1281167" cy="681382"/>
          </a:xfrm>
        </p:spPr>
        <p:txBody>
          <a:bodyPr/>
          <a:lstStyle/>
          <a:p>
            <a:pPr algn="ctr"/>
            <a:r>
              <a:rPr lang="en-IN" dirty="0"/>
              <a:t>KPIs</a:t>
            </a:r>
          </a:p>
        </p:txBody>
      </p:sp>
      <p:sp>
        <p:nvSpPr>
          <p:cNvPr id="20" name="KPI Card Total Passengers"/>
          <p:cNvSpPr/>
          <p:nvPr/>
        </p:nvSpPr>
        <p:spPr>
          <a:xfrm>
            <a:off x="3900000" y="1150000"/>
            <a:ext cx="2400000" cy="2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algn="t" rotWithShape="0">
              <a:srgbClr val="14233C">
                <a:alpha val="16000"/>
              </a:srgbClr>
            </a:outerShdw>
          </a:effectLst>
        </p:spPr>
        <p:txBody>
          <a:bodyPr wrap="square" lIns="274320" tIns="91440" rIns="182880" bIns="228600" rtlCol="0" anchor="b">
            <a:normAutofit/>
          </a:bodyPr>
          <a:lstStyle/>
          <a:p>
            <a:pPr algn="l"/>
            <a:r>
              <a:rPr lang="en-IN" sz="4800" b="1" dirty="0">
                <a:solidFill>
                  <a:schemeClr val="accent1"/>
                </a:solidFill>
                <a:latin typeface="+mj-lt"/>
              </a:rPr>
              <a:t>187M</a:t>
            </a:r>
          </a:p>
          <a:p>
            <a:pPr algn="l"/>
            <a:r>
              <a:rPr lang="en-IN" sz="1600" dirty="0">
                <a:solidFill>
                  <a:schemeClr val="tx2"/>
                </a:solidFill>
              </a:rPr>
              <a:t>Total Passengers</a:t>
            </a:r>
          </a:p>
        </p:txBody>
      </p:sp>
      <p:sp>
        <p:nvSpPr>
          <p:cNvPr id="21" name="KPI Dot Total Passengers"/>
          <p:cNvSpPr/>
          <p:nvPr/>
        </p:nvSpPr>
        <p:spPr>
          <a:xfrm>
            <a:off x="4174320" y="1424320"/>
            <a:ext cx="260000" cy="2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KPI Card Total Flights"/>
          <p:cNvSpPr/>
          <p:nvPr/>
        </p:nvSpPr>
        <p:spPr>
          <a:xfrm>
            <a:off x="6550000" y="1150000"/>
            <a:ext cx="2400000" cy="2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algn="t" rotWithShape="0">
              <a:srgbClr val="14233C">
                <a:alpha val="16000"/>
              </a:srgbClr>
            </a:outerShdw>
          </a:effectLst>
        </p:spPr>
        <p:txBody>
          <a:bodyPr wrap="square" lIns="274320" tIns="91440" rIns="182880" bIns="228600" rtlCol="0" anchor="b">
            <a:normAutofit/>
          </a:bodyPr>
          <a:lstStyle/>
          <a:p>
            <a:pPr algn="l"/>
            <a:r>
              <a:rPr lang="en-IN" sz="4800" b="1" dirty="0">
                <a:solidFill>
                  <a:schemeClr val="accent1"/>
                </a:solidFill>
                <a:latin typeface="+mj-lt"/>
              </a:rPr>
              <a:t>3M</a:t>
            </a:r>
          </a:p>
          <a:p>
            <a:pPr algn="l"/>
            <a:r>
              <a:rPr lang="en-IN" sz="1600" dirty="0">
                <a:solidFill>
                  <a:schemeClr val="tx2"/>
                </a:solidFill>
              </a:rPr>
              <a:t>Total Flights</a:t>
            </a:r>
          </a:p>
        </p:txBody>
      </p:sp>
      <p:sp>
        <p:nvSpPr>
          <p:cNvPr id="23" name="KPI Dot Total Flights"/>
          <p:cNvSpPr/>
          <p:nvPr/>
        </p:nvSpPr>
        <p:spPr>
          <a:xfrm>
            <a:off x="6824320" y="1424320"/>
            <a:ext cx="260000" cy="2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KPI Card Total Airlines"/>
          <p:cNvSpPr/>
          <p:nvPr/>
        </p:nvSpPr>
        <p:spPr>
          <a:xfrm>
            <a:off x="9200000" y="1150000"/>
            <a:ext cx="2400000" cy="2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algn="t" rotWithShape="0">
              <a:srgbClr val="14233C">
                <a:alpha val="16000"/>
              </a:srgbClr>
            </a:outerShdw>
          </a:effectLst>
        </p:spPr>
        <p:txBody>
          <a:bodyPr wrap="square" lIns="274320" tIns="91440" rIns="182880" bIns="228600" rtlCol="0" anchor="b">
            <a:normAutofit/>
          </a:bodyPr>
          <a:lstStyle/>
          <a:p>
            <a:pPr algn="l"/>
            <a:r>
              <a:rPr lang="en-IN" sz="4800" b="1" dirty="0">
                <a:solidFill>
                  <a:schemeClr val="accent1"/>
                </a:solidFill>
                <a:latin typeface="+mj-lt"/>
              </a:rPr>
              <a:t>208</a:t>
            </a:r>
          </a:p>
          <a:p>
            <a:pPr algn="l"/>
            <a:r>
              <a:rPr lang="en-IN" sz="1600" dirty="0">
                <a:solidFill>
                  <a:schemeClr val="tx2"/>
                </a:solidFill>
              </a:rPr>
              <a:t>Total Airlines</a:t>
            </a:r>
          </a:p>
        </p:txBody>
      </p:sp>
      <p:sp>
        <p:nvSpPr>
          <p:cNvPr id="25" name="KPI Dot Total Airlines"/>
          <p:cNvSpPr/>
          <p:nvPr/>
        </p:nvSpPr>
        <p:spPr>
          <a:xfrm>
            <a:off x="9474320" y="1424320"/>
            <a:ext cx="260000" cy="2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KPI Card Total Distance (miles)"/>
          <p:cNvSpPr/>
          <p:nvPr/>
        </p:nvSpPr>
        <p:spPr>
          <a:xfrm>
            <a:off x="3900000" y="3650000"/>
            <a:ext cx="3725000" cy="2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algn="t" rotWithShape="0">
              <a:srgbClr val="14233C">
                <a:alpha val="16000"/>
              </a:srgbClr>
            </a:outerShdw>
          </a:effectLst>
        </p:spPr>
        <p:txBody>
          <a:bodyPr wrap="square" lIns="274320" tIns="91440" rIns="182880" bIns="228600" rtlCol="0" anchor="b">
            <a:normAutofit/>
          </a:bodyPr>
          <a:lstStyle/>
          <a:p>
            <a:pPr algn="l"/>
            <a:r>
              <a:rPr lang="en-IN" sz="4800" b="1" dirty="0">
                <a:solidFill>
                  <a:schemeClr val="accent1"/>
                </a:solidFill>
                <a:latin typeface="+mj-lt"/>
              </a:rPr>
              <a:t>82M</a:t>
            </a:r>
          </a:p>
          <a:p>
            <a:pPr algn="l"/>
            <a:r>
              <a:rPr lang="en-IN" sz="1600" dirty="0">
                <a:solidFill>
                  <a:schemeClr val="tx2"/>
                </a:solidFill>
              </a:rPr>
              <a:t>Total Distance (miles)</a:t>
            </a:r>
          </a:p>
        </p:txBody>
      </p:sp>
      <p:sp>
        <p:nvSpPr>
          <p:cNvPr id="27" name="KPI Dot Total Distance (miles)"/>
          <p:cNvSpPr/>
          <p:nvPr/>
        </p:nvSpPr>
        <p:spPr>
          <a:xfrm>
            <a:off x="4174320" y="3924320"/>
            <a:ext cx="260000" cy="2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KPI Card Overall Load Factor"/>
          <p:cNvSpPr/>
          <p:nvPr/>
        </p:nvSpPr>
        <p:spPr>
          <a:xfrm>
            <a:off x="7875000" y="3650000"/>
            <a:ext cx="3725000" cy="2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algn="t" rotWithShape="0">
              <a:srgbClr val="14233C">
                <a:alpha val="16000"/>
              </a:srgbClr>
            </a:outerShdw>
          </a:effectLst>
        </p:spPr>
        <p:txBody>
          <a:bodyPr wrap="square" lIns="274320" tIns="91440" rIns="182880" bIns="228600" rtlCol="0" anchor="b">
            <a:normAutofit/>
          </a:bodyPr>
          <a:lstStyle/>
          <a:p>
            <a:pPr algn="l"/>
            <a:r>
              <a:rPr lang="en-IN" sz="4800" b="1" dirty="0">
                <a:solidFill>
                  <a:schemeClr val="accent1"/>
                </a:solidFill>
                <a:latin typeface="+mj-lt"/>
              </a:rPr>
              <a:t>76%</a:t>
            </a:r>
          </a:p>
          <a:p>
            <a:pPr algn="l"/>
            <a:r>
              <a:rPr lang="en-IN" sz="1600" dirty="0">
                <a:solidFill>
                  <a:schemeClr val="tx2"/>
                </a:solidFill>
              </a:rPr>
              <a:t>Overall Load Factor</a:t>
            </a:r>
          </a:p>
        </p:txBody>
      </p:sp>
      <p:sp>
        <p:nvSpPr>
          <p:cNvPr id="29" name="KPI Dot Overall Load Factor"/>
          <p:cNvSpPr/>
          <p:nvPr/>
        </p:nvSpPr>
        <p:spPr>
          <a:xfrm>
            <a:off x="8149320" y="3924320"/>
            <a:ext cx="260000" cy="2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300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036EB-F73E-E3EC-CFB3-147E84826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184" y="1020727"/>
            <a:ext cx="2947482" cy="1010092"/>
          </a:xfrm>
        </p:spPr>
        <p:txBody>
          <a:bodyPr>
            <a:normAutofit/>
          </a:bodyPr>
          <a:lstStyle/>
          <a:p>
            <a:r>
              <a:rPr lang="en-IN" sz="2400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D33D4-C126-CF13-8C05-918D9D16F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7372" y="701750"/>
            <a:ext cx="6986574" cy="5175185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Business Suggestions</a:t>
            </a:r>
          </a:p>
          <a:p>
            <a:pPr lvl="0"/>
            <a:r>
              <a:rPr lang="en-IN" sz="2400" dirty="0"/>
              <a:t>Increase flights on high-demand routes. </a:t>
            </a:r>
          </a:p>
          <a:p>
            <a:pPr lvl="0"/>
            <a:r>
              <a:rPr lang="en-IN" sz="2400" dirty="0"/>
              <a:t>Improve occupancy on low load-factor routes. </a:t>
            </a:r>
          </a:p>
          <a:p>
            <a:pPr lvl="0"/>
            <a:r>
              <a:rPr lang="en-IN" sz="2400" dirty="0"/>
              <a:t>Expand profitable routes. </a:t>
            </a:r>
          </a:p>
          <a:p>
            <a:pPr lvl="0"/>
            <a:r>
              <a:rPr lang="en-IN" sz="2400" dirty="0"/>
              <a:t>Monitor seasonal demand. </a:t>
            </a:r>
          </a:p>
          <a:p>
            <a:pPr lvl="0"/>
            <a:r>
              <a:rPr lang="en-IN" sz="2400" dirty="0"/>
              <a:t>Improve seat utilization. </a:t>
            </a:r>
          </a:p>
          <a:p>
            <a:pPr lvl="0"/>
            <a:r>
              <a:rPr lang="en-IN" sz="2400" dirty="0"/>
              <a:t>Focus marketing on underperforming routes.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251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7B3C0-2C23-C367-622D-DA8C54AC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967564"/>
            <a:ext cx="2947482" cy="99946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878C2-FB1A-0C38-4802-05F876F1A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949" y="864108"/>
            <a:ext cx="8378456" cy="5462264"/>
          </a:xfrm>
        </p:spPr>
        <p:txBody>
          <a:bodyPr>
            <a:normAutofit/>
          </a:bodyPr>
          <a:lstStyle/>
          <a:p>
            <a:r>
              <a:rPr lang="en-IN" dirty="0"/>
              <a:t>This project demonstrates how SQL, Excel, Tableau, and Power BI can be used together to transform raw airline operational data into meaningful business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ea typeface="Open Sans" panose="020B0606030504020204" pitchFamily="34" charset="0"/>
                <a:cs typeface="Open Sans" panose="020B0606030504020204" pitchFamily="34" charset="0"/>
              </a:rPr>
              <a:t>The airline dataset provided valuable insights into passenger traffic and airline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ea typeface="Open Sans" panose="020B0606030504020204" pitchFamily="34" charset="0"/>
                <a:cs typeface="Open Sans" panose="020B0606030504020204" pitchFamily="34" charset="0"/>
              </a:rPr>
              <a:t> Data analysis identified key trends, patterns, and performance indicators.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ea typeface="Open Sans" panose="020B0606030504020204" pitchFamily="34" charset="0"/>
                <a:cs typeface="Open Sans" panose="020B0606030504020204" pitchFamily="34" charset="0"/>
              </a:rPr>
              <a:t>The insights support better decision-making in route planning and operational efficiency.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ea typeface="Open Sans" panose="020B0606030504020204" pitchFamily="34" charset="0"/>
                <a:cs typeface="Open Sans" panose="020B0606030504020204" pitchFamily="34" charset="0"/>
              </a:rPr>
              <a:t>Interactive dashboards and visualizations simplified data interpretation.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ea typeface="Open Sans" panose="020B0606030504020204" pitchFamily="34" charset="0"/>
                <a:cs typeface="Open Sans" panose="020B0606030504020204" pitchFamily="34" charset="0"/>
              </a:rPr>
              <a:t>This project demonstrates how data analytics converts raw data into meaningful business insights</a:t>
            </a:r>
            <a:r>
              <a:rPr lang="en-IN" dirty="0"/>
              <a:t>.</a:t>
            </a:r>
            <a:endParaRPr lang="en-IN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2323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034C19-692B-C1F2-B4A8-A10FF37A5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1900000"/>
            <a:ext cx="6700000" cy="2200000"/>
          </a:xfrm>
        </p:spPr>
        <p:txBody>
          <a:bodyPr>
            <a:normAutofit/>
          </a:bodyPr>
          <a:lstStyle/>
          <a:p>
            <a:r>
              <a:rPr lang="en-US" sz="6600" b="1" dirty="0"/>
              <a:t>Thank You</a:t>
            </a:r>
          </a:p>
        </p:txBody>
      </p:sp>
      <p:pic>
        <p:nvPicPr>
          <p:cNvPr id="6" name="Google Shape;854;p52">
            <a:extLst>
              <a:ext uri="{FF2B5EF4-FFF2-40B4-BE49-F238E27FC236}">
                <a16:creationId xmlns:a16="http://schemas.microsoft.com/office/drawing/2014/main" id="{06E7C98C-EE6B-3F4F-E5FD-18B25C06BB6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20249072">
            <a:off x="7850000" y="2250000"/>
            <a:ext cx="4000000" cy="20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4164821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Highcloud">
      <a:dk1>
        <a:srgbClr val="14233C"/>
      </a:dk1>
      <a:lt1>
        <a:srgbClr val="FFFFFF"/>
      </a:lt1>
      <a:dk2>
        <a:srgbClr val="4A5A70"/>
      </a:dk2>
      <a:lt2>
        <a:srgbClr val="E6EDF5"/>
      </a:lt2>
      <a:accent1>
        <a:srgbClr val="0B2E57"/>
      </a:accent1>
      <a:accent2>
        <a:srgbClr val="FFB000"/>
      </a:accent2>
      <a:accent3>
        <a:srgbClr val="1E90D6"/>
      </a:accent3>
      <a:accent4>
        <a:srgbClr val="EE7008"/>
      </a:accent4>
      <a:accent5>
        <a:srgbClr val="1AB39F"/>
      </a:accent5>
      <a:accent6>
        <a:srgbClr val="D5393D"/>
      </a:accent6>
      <a:hlink>
        <a:srgbClr val="1E90D6"/>
      </a:hlink>
      <a:folHlink>
        <a:srgbClr val="EE7008"/>
      </a:folHlink>
    </a:clrScheme>
    <a:fontScheme name="Frame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624</TotalTime>
  <Words>897</Words>
  <Application>Microsoft Office PowerPoint</Application>
  <PresentationFormat>Widescreen</PresentationFormat>
  <Paragraphs>131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Corbel</vt:lpstr>
      <vt:lpstr>Open Sans</vt:lpstr>
      <vt:lpstr>Segoe UI Variable Small Semibol</vt:lpstr>
      <vt:lpstr>Wingdings 2</vt:lpstr>
      <vt:lpstr>Frame</vt:lpstr>
      <vt:lpstr>Highcloud  Airlines</vt:lpstr>
      <vt:lpstr>Project Objective       </vt:lpstr>
      <vt:lpstr>Excel Dashboard</vt:lpstr>
      <vt:lpstr>Excel Dashboard</vt:lpstr>
      <vt:lpstr>Power Bi Dashboard</vt:lpstr>
      <vt:lpstr>Power Bi Dashboard</vt:lpstr>
      <vt:lpstr>Tableau Dashboard</vt:lpstr>
      <vt:lpstr>PowerPoint Presentation</vt:lpstr>
      <vt:lpstr>SQL   Queries</vt:lpstr>
      <vt:lpstr>SQL   Queries</vt:lpstr>
      <vt:lpstr>02.  Load Factor year wise remained consistently high, ranging from approximately 75% to 78% .  Quarter wise its between 72%  to 76%.</vt:lpstr>
      <vt:lpstr>03.   A higher Load Factor indicates better seat utilization and operational efficiency.  A lower Load Factor suggests that flights are operating with many empty seats.</vt:lpstr>
      <vt:lpstr>04.   Southwest Airlines has the highest passenger preference (34M).  Passenger traffic is concentrated among major airlines. Useful for capacity and route planning.</vt:lpstr>
      <vt:lpstr>05.   Number of flights from Atlanta to New York is the highest.   Closely followed by Boston to New York and Washington DC to New York.</vt:lpstr>
      <vt:lpstr>06.   Load factor for all days is almost same.  Airlines should use strategies to increase occupancy for weekends.  Prospective passengers are more likely to travel for leisure in weekends.</vt:lpstr>
      <vt:lpstr>07  Flights operating on routes less than 500 miles shows strong demand.  Company should also focus on flights routes more than 500 miles by giving discounts and other benefits.  </vt:lpstr>
      <vt:lpstr>Insights </vt:lpstr>
      <vt:lpstr>What   We Learned</vt:lpstr>
      <vt:lpstr>Challenges Faced</vt:lpstr>
      <vt:lpstr>How  we  tackled  the challenges</vt:lpstr>
      <vt:lpstr>KPIs</vt:lpstr>
      <vt:lpstr>Recommendations</vt:lpstr>
      <vt:lpstr>Conclusion</vt:lpstr>
      <vt:lpstr>Thank 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Goutam Sharma</cp:lastModifiedBy>
  <cp:revision>37</cp:revision>
  <dcterms:created xsi:type="dcterms:W3CDTF">2026-08-05T05:10:25Z</dcterms:created>
  <dcterms:modified xsi:type="dcterms:W3CDTF">2026-08-10T16:10:57Z</dcterms:modified>
</cp:coreProperties>
</file>